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embeddedFontLst>
    <p:embeddedFont>
      <p:font typeface="PT Sans Narrow"/>
      <p:regular r:id="rId17"/>
      <p:bold r:id="rId18"/>
    </p:embeddedFont>
    <p:embeddedFont>
      <p:font typeface="Open Sans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OpenSans-bold.fntdata"/><Relationship Id="rId11" Type="http://schemas.openxmlformats.org/officeDocument/2006/relationships/slide" Target="slides/slide6.xml"/><Relationship Id="rId22" Type="http://schemas.openxmlformats.org/officeDocument/2006/relationships/font" Target="fonts/OpenSans-boldItalic.fntdata"/><Relationship Id="rId10" Type="http://schemas.openxmlformats.org/officeDocument/2006/relationships/slide" Target="slides/slide5.xml"/><Relationship Id="rId21" Type="http://schemas.openxmlformats.org/officeDocument/2006/relationships/font" Target="fonts/OpenSans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PTSansNarrow-regular.fntdata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OpenSans-regular.fntdata"/><Relationship Id="rId6" Type="http://schemas.openxmlformats.org/officeDocument/2006/relationships/slide" Target="slides/slide1.xml"/><Relationship Id="rId18" Type="http://schemas.openxmlformats.org/officeDocument/2006/relationships/font" Target="fonts/PTSansNarrow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2eadd76c3c9b928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2eadd76c3c9b928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2eadd76c3c9b9282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2eadd76c3c9b9282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2eadd76c3c9b9282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2eadd76c3c9b9282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2eadd76c3c9b9282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2eadd76c3c9b9282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2eadd76c3c9b9282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2eadd76c3c9b9282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2eadd76c3c9b9282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2eadd76c3c9b9282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2eadd76c3c9b9282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2eadd76c3c9b9282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2eadd76c3c9b9282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2eadd76c3c9b9282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eadd76c3c9b9282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eadd76c3c9b9282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2eadd76c3c9b9282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2eadd76c3c9b9282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7007735" y="3176888"/>
            <a:ext cx="562200" cy="0"/>
          </a:xfrm>
          <a:prstGeom prst="straightConnector1">
            <a:avLst/>
          </a:prstGeom>
          <a:noFill/>
          <a:ln cap="flat" cmpd="sng" w="762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" name="Google Shape;11;p2"/>
          <p:cNvCxnSpPr/>
          <p:nvPr/>
        </p:nvCxnSpPr>
        <p:spPr>
          <a:xfrm>
            <a:off x="1575035" y="3158252"/>
            <a:ext cx="562200" cy="0"/>
          </a:xfrm>
          <a:prstGeom prst="straightConnector1">
            <a:avLst/>
          </a:prstGeom>
          <a:noFill/>
          <a:ln cap="flat" cmpd="sng" w="762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2" name="Google Shape;12;p2"/>
          <p:cNvGrpSpPr/>
          <p:nvPr/>
        </p:nvGrpSpPr>
        <p:grpSpPr>
          <a:xfrm>
            <a:off x="1004144" y="1022025"/>
            <a:ext cx="7136668" cy="152400"/>
            <a:chOff x="1346429" y="1011300"/>
            <a:chExt cx="6452100" cy="152400"/>
          </a:xfrm>
        </p:grpSpPr>
        <p:cxnSp>
          <p:nvCxnSpPr>
            <p:cNvPr id="13" name="Google Shape;13;p2"/>
            <p:cNvCxnSpPr/>
            <p:nvPr/>
          </p:nvCxnSpPr>
          <p:spPr>
            <a:xfrm rot="10800000">
              <a:off x="1346429" y="1011300"/>
              <a:ext cx="6452100" cy="0"/>
            </a:xfrm>
            <a:prstGeom prst="straightConnector1">
              <a:avLst/>
            </a:prstGeom>
            <a:noFill/>
            <a:ln cap="flat" cmpd="sng" w="762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" name="Google Shape;14;p2"/>
            <p:cNvCxnSpPr/>
            <p:nvPr/>
          </p:nvCxnSpPr>
          <p:spPr>
            <a:xfrm rot="10800000">
              <a:off x="1346429" y="1163700"/>
              <a:ext cx="64521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5" name="Google Shape;15;p2"/>
          <p:cNvGrpSpPr/>
          <p:nvPr/>
        </p:nvGrpSpPr>
        <p:grpSpPr>
          <a:xfrm>
            <a:off x="1004151" y="3969100"/>
            <a:ext cx="7136668" cy="152400"/>
            <a:chOff x="1346435" y="3969088"/>
            <a:chExt cx="6452100" cy="152400"/>
          </a:xfrm>
        </p:grpSpPr>
        <p:cxnSp>
          <p:nvCxnSpPr>
            <p:cNvPr id="16" name="Google Shape;16;p2"/>
            <p:cNvCxnSpPr/>
            <p:nvPr/>
          </p:nvCxnSpPr>
          <p:spPr>
            <a:xfrm>
              <a:off x="1346435" y="4121488"/>
              <a:ext cx="6452100" cy="0"/>
            </a:xfrm>
            <a:prstGeom prst="straightConnector1">
              <a:avLst/>
            </a:prstGeom>
            <a:noFill/>
            <a:ln cap="flat" cmpd="sng" w="762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" name="Google Shape;17;p2"/>
            <p:cNvCxnSpPr/>
            <p:nvPr/>
          </p:nvCxnSpPr>
          <p:spPr>
            <a:xfrm>
              <a:off x="1346435" y="3969088"/>
              <a:ext cx="64521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8" name="Google Shape;18;p2"/>
          <p:cNvSpPr txBox="1"/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19" name="Google Shape;19;p2"/>
          <p:cNvSpPr txBox="1"/>
          <p:nvPr>
            <p:ph idx="1" type="subTitle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/>
          <p:nvPr/>
        </p:nvSpPr>
        <p:spPr>
          <a:xfrm>
            <a:off x="-50" y="2571900"/>
            <a:ext cx="9144000" cy="257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3"/>
          <p:cNvSpPr txBox="1"/>
          <p:nvPr>
            <p:ph type="title"/>
          </p:nvPr>
        </p:nvSpPr>
        <p:spPr>
          <a:xfrm>
            <a:off x="311700" y="814800"/>
            <a:ext cx="8571300" cy="94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4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" type="body"/>
          </p:nvPr>
        </p:nvSpPr>
        <p:spPr>
          <a:xfrm>
            <a:off x="311700" y="1266175"/>
            <a:ext cx="39999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5"/>
          <p:cNvSpPr txBox="1"/>
          <p:nvPr>
            <p:ph idx="2" type="body"/>
          </p:nvPr>
        </p:nvSpPr>
        <p:spPr>
          <a:xfrm>
            <a:off x="4832400" y="1266175"/>
            <a:ext cx="39999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" name="Google Shape;4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6"/>
        </a:solid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/>
          <p:nvPr>
            <p:ph type="title"/>
          </p:nvPr>
        </p:nvSpPr>
        <p:spPr>
          <a:xfrm>
            <a:off x="490250" y="526350"/>
            <a:ext cx="56136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7" name="Google Shape;47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8" name="Google Shape;48;p9"/>
          <p:cNvSpPr txBox="1"/>
          <p:nvPr>
            <p:ph type="title"/>
          </p:nvPr>
        </p:nvSpPr>
        <p:spPr>
          <a:xfrm>
            <a:off x="265500" y="1039675"/>
            <a:ext cx="4045200" cy="1675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9" name="Google Shape;49;p9"/>
          <p:cNvSpPr txBox="1"/>
          <p:nvPr>
            <p:ph idx="1" type="subTitle"/>
          </p:nvPr>
        </p:nvSpPr>
        <p:spPr>
          <a:xfrm>
            <a:off x="265500" y="27268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0" name="Google Shape;50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>
            <p:ph idx="1" type="body"/>
          </p:nvPr>
        </p:nvSpPr>
        <p:spPr>
          <a:xfrm>
            <a:off x="311700" y="42307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 Narrow"/>
              <a:buNone/>
              <a:defRPr sz="2400">
                <a:latin typeface="PT Sans Narrow"/>
                <a:ea typeface="PT Sans Narrow"/>
                <a:cs typeface="PT Sans Narrow"/>
                <a:sym typeface="PT Sans Narrow"/>
              </a:defRPr>
            </a:lvl1pPr>
          </a:lstStyle>
          <a:p/>
        </p:txBody>
      </p:sp>
      <p:sp>
        <p:nvSpPr>
          <p:cNvPr id="54" name="Google Shape;5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1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1"/>
          <p:cNvSpPr txBox="1"/>
          <p:nvPr>
            <p:ph hasCustomPrompt="1" type="title"/>
          </p:nvPr>
        </p:nvSpPr>
        <p:spPr>
          <a:xfrm>
            <a:off x="311700" y="1304850"/>
            <a:ext cx="85206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8" name="Google Shape;58;p11"/>
          <p:cNvSpPr txBox="1"/>
          <p:nvPr>
            <p:ph idx="1" type="body"/>
          </p:nvPr>
        </p:nvSpPr>
        <p:spPr>
          <a:xfrm>
            <a:off x="311700" y="299565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9" name="Google Shape;59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trop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  <a:defRPr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g"/><Relationship Id="rId4" Type="http://schemas.openxmlformats.org/officeDocument/2006/relationships/image" Target="../media/image5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jpg"/><Relationship Id="rId4" Type="http://schemas.openxmlformats.org/officeDocument/2006/relationships/image" Target="../media/image1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jpg"/><Relationship Id="rId4" Type="http://schemas.openxmlformats.org/officeDocument/2006/relationships/image" Target="../media/image8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jpg"/><Relationship Id="rId4" Type="http://schemas.openxmlformats.org/officeDocument/2006/relationships/image" Target="../media/image4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4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3"/>
          <p:cNvSpPr txBox="1"/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/>
              <a:t>Сучасний манікюр</a:t>
            </a:r>
            <a:endParaRPr/>
          </a:p>
        </p:txBody>
      </p:sp>
      <p:sp>
        <p:nvSpPr>
          <p:cNvPr id="67" name="Google Shape;67;p13"/>
          <p:cNvSpPr txBox="1"/>
          <p:nvPr>
            <p:ph idx="1" type="subTitle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/>
              <a:t>Презентація Бистрицької Марії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4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/>
              <a:t>Чому манікюр — це капітал вашого образу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14"/>
          <p:cNvSpPr txBox="1"/>
          <p:nvPr>
            <p:ph idx="1" type="body"/>
          </p:nvPr>
        </p:nvSpPr>
        <p:spPr>
          <a:xfrm>
            <a:off x="311700" y="1266175"/>
            <a:ext cx="39999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uk"/>
              <a:t>У сучасному світі доглянуті руки давно перестали бути розкішшю чи процедурою «для особливих випадків». Сьогодні це невіддільна частина базового догляду, елемент особистої гігієни та візитна картка людини. Манікюр — це безмовний спосіб заявити про свій статус, акуратність та увагу до деталей. Навіть найстильніший одяг втрачає свій шарм, якщо руки виглядають недоглянутими. Саме тому краса сьогодні починається з кінчиків пальців.</a:t>
            </a:r>
            <a:endParaRPr/>
          </a:p>
        </p:txBody>
      </p:sp>
      <p:sp>
        <p:nvSpPr>
          <p:cNvPr id="74" name="Google Shape;74;p14"/>
          <p:cNvSpPr txBox="1"/>
          <p:nvPr>
            <p:ph idx="2" type="body"/>
          </p:nvPr>
        </p:nvSpPr>
        <p:spPr>
          <a:xfrm>
            <a:off x="4832400" y="1266175"/>
            <a:ext cx="39999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5" name="Google Shape;7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75400" y="1166825"/>
            <a:ext cx="2456925" cy="330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11595" y="1343287"/>
            <a:ext cx="2456925" cy="2456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5"/>
          <p:cNvSpPr txBox="1"/>
          <p:nvPr>
            <p:ph type="title"/>
          </p:nvPr>
        </p:nvSpPr>
        <p:spPr>
          <a:xfrm>
            <a:off x="572100" y="0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/>
              <a:t>Еволюція покриття: Від класики до сучасних технологій</a:t>
            </a:r>
            <a:endParaRPr/>
          </a:p>
        </p:txBody>
      </p:sp>
      <p:sp>
        <p:nvSpPr>
          <p:cNvPr id="82" name="Google Shape;82;p15"/>
          <p:cNvSpPr txBox="1"/>
          <p:nvPr>
            <p:ph idx="2" type="body"/>
          </p:nvPr>
        </p:nvSpPr>
        <p:spPr>
          <a:xfrm>
            <a:off x="572100" y="1237142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/>
              <a:t>Нейл-індустрія пройшла величезний шлях від звичайних лаків, які висихали годинами й трималися кілька днів, до високотехнологічних матеріалів. Сучасне гелеве покриття — це справжній порятунок для динамічного життя. Воно дозволяє: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uk"/>
              <a:t> Заощаджувати час: Покриття тримається від 2 до 4 тижнів без сколів та втрати блиску.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uk"/>
              <a:t> Зміцнювати нігті: Сучасні бази та гелі створюють захисний каркас, який допомагає відростити бажану довжину навіть тонким і ламким нігтям.</a:t>
            </a:r>
            <a:endParaRPr/>
          </a:p>
        </p:txBody>
      </p:sp>
      <p:pic>
        <p:nvPicPr>
          <p:cNvPr id="83" name="Google Shape;8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23933" y="879700"/>
            <a:ext cx="3462098" cy="4131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6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/>
              <a:t>Головний пріоритет: Здоров'я та абсолютна безпека</a:t>
            </a:r>
            <a:endParaRPr/>
          </a:p>
        </p:txBody>
      </p:sp>
      <p:sp>
        <p:nvSpPr>
          <p:cNvPr id="89" name="Google Shape;89;p16"/>
          <p:cNvSpPr txBox="1"/>
          <p:nvPr>
            <p:ph idx="1" type="body"/>
          </p:nvPr>
        </p:nvSpPr>
        <p:spPr>
          <a:xfrm>
            <a:off x="311700" y="1266175"/>
            <a:ext cx="39999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/>
              <a:t>Естетика манікюру не має сенсу без безпеки. Сучасна культура нігтьового сервісу базується на суворому дотриманні санітарних норм. Ідеальний манікюр — це перш за все безпечний манікюр. Він включає: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uk"/>
              <a:t> Багатоетапне очищення: Стерилізація інструментів у медичних сухожарових шафах та розкриття крафт-пакетів безпосередньо при клієнтові.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uk"/>
              <a:t> Дбайливу техніку: Робота апаратом або пилочками без пошкодження живої шкіри та матриксу нігтя.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uk"/>
              <a:t> Якість матеріалів: Використання сертифікованих, гіпоалергенних продуктів, які не пересушують нігтьову пластину.</a:t>
            </a:r>
            <a:endParaRPr/>
          </a:p>
        </p:txBody>
      </p:sp>
      <p:sp>
        <p:nvSpPr>
          <p:cNvPr id="90" name="Google Shape;90;p16"/>
          <p:cNvSpPr txBox="1"/>
          <p:nvPr>
            <p:ph idx="2" type="body"/>
          </p:nvPr>
        </p:nvSpPr>
        <p:spPr>
          <a:xfrm>
            <a:off x="4832400" y="1266175"/>
            <a:ext cx="39999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1" name="Google Shape;9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11850" y="1285866"/>
            <a:ext cx="2832150" cy="2571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0" y="3340202"/>
            <a:ext cx="3213150" cy="18032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7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/>
              <a:t>Тренди та самовираження: Що диктує сучасна мода?</a:t>
            </a:r>
            <a:endParaRPr/>
          </a:p>
        </p:txBody>
      </p:sp>
      <p:sp>
        <p:nvSpPr>
          <p:cNvPr id="98" name="Google Shape;98;p17"/>
          <p:cNvSpPr txBox="1"/>
          <p:nvPr>
            <p:ph idx="1" type="body"/>
          </p:nvPr>
        </p:nvSpPr>
        <p:spPr>
          <a:xfrm>
            <a:off x="311700" y="1266175"/>
            <a:ext cx="39999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/>
              <a:t>Сьогодні б'юті-світ відмовився від жорстких рамок, надаючи повну свободу вибору. Проте можна виділити два головних напрямки: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uk"/>
              <a:t>1 Здоровий мінімалізм (Clean Girl Aesthetic): Японський екоманікюр, напівпрозорі нюдові бази, «голі нігті» та класичний акуратний френч. Це вибір тих, хто цінує природність та «тиху розкіш».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uk"/>
              <a:t>2 Сміливий нейл-арт: Металеві втирки, об'ємні 3D-дизайни, абстрактні лінії та глибокі темні відтінки. Це спосіб виділитися, проявити свій характер та додати бунтарства у повсякденність.</a:t>
            </a:r>
            <a:endParaRPr/>
          </a:p>
        </p:txBody>
      </p:sp>
      <p:pic>
        <p:nvPicPr>
          <p:cNvPr id="99" name="Google Shape;99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78400" y="1074388"/>
            <a:ext cx="2947829" cy="3686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8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/>
              <a:t>Манікюр як ритуал любові до себе</a:t>
            </a:r>
            <a:endParaRPr/>
          </a:p>
        </p:txBody>
      </p:sp>
      <p:sp>
        <p:nvSpPr>
          <p:cNvPr id="105" name="Google Shape;105;p18"/>
          <p:cNvSpPr txBox="1"/>
          <p:nvPr>
            <p:ph idx="1" type="body"/>
          </p:nvPr>
        </p:nvSpPr>
        <p:spPr>
          <a:xfrm>
            <a:off x="311700" y="1266175"/>
            <a:ext cx="39999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uk"/>
              <a:t>Зрештою, візит на манікюр або час, присвячений догляду за руками вдома — це значно більше, ніж просто технічна процедура. Це особливий ритуал турботи про себе, година спокою та можливість уповільнити шалений темп життя. Коли наші руки виглядають бездоганно, ми почуваємося впевненіше, діємо рішучіше і транслюємо цю гармонію у світ. Манікюр — це маленька інвестиція у свій чудовий настрій на кілька тижнів уперед.</a:t>
            </a:r>
            <a:endParaRPr/>
          </a:p>
        </p:txBody>
      </p:sp>
      <p:sp>
        <p:nvSpPr>
          <p:cNvPr id="106" name="Google Shape;106;p18"/>
          <p:cNvSpPr txBox="1"/>
          <p:nvPr>
            <p:ph idx="2" type="body"/>
          </p:nvPr>
        </p:nvSpPr>
        <p:spPr>
          <a:xfrm>
            <a:off x="4832400" y="1266175"/>
            <a:ext cx="39999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7" name="Google Shape;10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74025" y="812792"/>
            <a:ext cx="3169975" cy="29310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11600" y="2571745"/>
            <a:ext cx="1877525" cy="23478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9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/>
              <a:t>Психологія кольору: Як манікюр впливає на наш настрій</a:t>
            </a:r>
            <a:endParaRPr/>
          </a:p>
        </p:txBody>
      </p:sp>
      <p:sp>
        <p:nvSpPr>
          <p:cNvPr id="114" name="Google Shape;114;p19"/>
          <p:cNvSpPr txBox="1"/>
          <p:nvPr>
            <p:ph idx="1" type="body"/>
          </p:nvPr>
        </p:nvSpPr>
        <p:spPr>
          <a:xfrm>
            <a:off x="311700" y="1727100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/>
              <a:t>Вибір відтінку на сеансі манікюру — це не просто випадковість, а підсвідоме відображення нашого внутрішнього стану чи навіть програмування себе на певний настрій: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uk"/>
              <a:t> Червона класика: Колір енергії, лідерства та впевненості. Його обирають, коли потрібно заявити про себе або додати внутрішньої сили.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uk"/>
              <a:t> Нюдові та пастельні відтінки: Символізують гармонію, спокій, стриманість та професіоналізм. Ідеально підходять для бізнес-середовища та періодів, коли хочеться затишку й мінімалізму.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uk"/>
              <a:t> Темні та глибокі тони (бордо, графіт, чорний): Свідчать про сильний характер, незалежність та витончений смак.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uk"/>
              <a:t> Яскраві неонові або арт-дизайни: Це маніфест творчості, готовності до експериментів та літнього, легкого настрою.</a:t>
            </a:r>
            <a:endParaRPr/>
          </a:p>
        </p:txBody>
      </p:sp>
      <p:sp>
        <p:nvSpPr>
          <p:cNvPr id="115" name="Google Shape;115;p19"/>
          <p:cNvSpPr txBox="1"/>
          <p:nvPr>
            <p:ph idx="2" type="body"/>
          </p:nvPr>
        </p:nvSpPr>
        <p:spPr>
          <a:xfrm>
            <a:off x="4832400" y="1266175"/>
            <a:ext cx="39999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6" name="Google Shape;116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72752" y="1152425"/>
            <a:ext cx="2871250" cy="2034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11600" y="2073225"/>
            <a:ext cx="2469376" cy="27241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0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/>
              <a:t>Архітектура та моделювання: Секрет ідеальної форми</a:t>
            </a:r>
            <a:endParaRPr/>
          </a:p>
        </p:txBody>
      </p:sp>
      <p:sp>
        <p:nvSpPr>
          <p:cNvPr id="123" name="Google Shape;123;p20"/>
          <p:cNvSpPr txBox="1"/>
          <p:nvPr>
            <p:ph idx="1" type="body"/>
          </p:nvPr>
        </p:nvSpPr>
        <p:spPr>
          <a:xfrm>
            <a:off x="311700" y="1266175"/>
            <a:ext cx="39999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/>
              <a:t>Гарний манікюр — це не просто рівно нанесений колір, це перш за все правильна геометрія. Створення правильної архітектури нігтя дозволяє покриттю триматися довго й не ламатися від найменшого удару: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uk"/>
              <a:t> Виправлення клюючих нігтів: Сучасні тверді матеріали (полігелі, акригелі) дозволяють підняти та вирівняти нігті, що ростуть вниз, роблячи їх ідеально рівними.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uk"/>
              <a:t> Створення апексу: Це правильний розподіл об'єму матеріалу в стресовій зоні нігтя, який амортизує навантаження при повсякденній роботі.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uk"/>
              <a:t> Підбір під форму пальців: Правильно підібраний вільний край (чіткий квадрат, м'який овал чи витончений мигдаль) може візуально подовжити пальці та зробити кисть більш елегантною.</a:t>
            </a:r>
            <a:endParaRPr/>
          </a:p>
        </p:txBody>
      </p:sp>
      <p:sp>
        <p:nvSpPr>
          <p:cNvPr id="124" name="Google Shape;124;p20"/>
          <p:cNvSpPr txBox="1"/>
          <p:nvPr>
            <p:ph idx="2" type="body"/>
          </p:nvPr>
        </p:nvSpPr>
        <p:spPr>
          <a:xfrm>
            <a:off x="4832400" y="1266175"/>
            <a:ext cx="39999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25" name="Google Shape;12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49325" y="1266175"/>
            <a:ext cx="2715799" cy="36783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1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/>
              <a:t>Домашній пролонгований догляд: Як зберегти салонний ефект</a:t>
            </a:r>
            <a:endParaRPr/>
          </a:p>
        </p:txBody>
      </p:sp>
      <p:sp>
        <p:nvSpPr>
          <p:cNvPr id="131" name="Google Shape;131;p21"/>
          <p:cNvSpPr txBox="1"/>
          <p:nvPr>
            <p:ph idx="2" type="body"/>
          </p:nvPr>
        </p:nvSpPr>
        <p:spPr>
          <a:xfrm>
            <a:off x="311700" y="1406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/>
              <a:t>Робота над красою рук не закінчується на виході з кабінету майстра. Половина успіху — це регулярний домашній догляд, який підтримує шкіру та нігті в ідеальному стані між візитами: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uk"/>
              <a:t> Зволоження кутикули: Щоденне використання олії для кутикули запобігає появі задирок та зберігає манікюр свіжим значно довше.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uk"/>
              <a:t> Захист від побутової хімії: Усі домашні справи (миття посуду, прибирання) варто виконувати в гумових рукавичках. Агресивні мийні засоби висушують шкіру та руйнують глянцевий блиск покриття.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uk"/>
              <a:t> Турбота про шкіру рук: Використання поживних кремів, особливо на ніч, та регулярний м'який пілінг допомагають зберегти молодість та еластичність шкіри рук.</a:t>
            </a:r>
            <a:endParaRPr/>
          </a:p>
        </p:txBody>
      </p:sp>
      <p:pic>
        <p:nvPicPr>
          <p:cNvPr id="132" name="Google Shape;13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17533" y="1271538"/>
            <a:ext cx="2947829" cy="3686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2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/>
              <a:t>Чоловічий манікюр: Руйнування стереотипів та сучасна норма</a:t>
            </a:r>
            <a:endParaRPr/>
          </a:p>
        </p:txBody>
      </p:sp>
      <p:sp>
        <p:nvSpPr>
          <p:cNvPr id="138" name="Google Shape;138;p22"/>
          <p:cNvSpPr txBox="1"/>
          <p:nvPr>
            <p:ph idx="1" type="body"/>
          </p:nvPr>
        </p:nvSpPr>
        <p:spPr>
          <a:xfrm>
            <a:off x="311700" y="1727100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/>
              <a:t>Сьогодні манікюр остаточно втратив виключно гендерне забарвлення. Гігієнічний чоловічий догляд за руками — це така ж базова та природна річ, як чищення зубів чи стрижка волосся: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uk"/>
              <a:t> Елемент ділового етикету: Чисті, охайні нігті без задирок вкрай важливі для бізнесменів, політиків, спікерів — усіх, хто веде переговори, тисне руки та працює з людьми.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uk"/>
              <a:t> Особливості техніки: Чоловіча шкіра щільніша, а капіляри розташовані інакше, тому тут використовується максимально дбайлива техніка (часто пилочний або апаратний манікюр) без агресивного зрізання.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uk"/>
              <a:t> Фінішний вигляд: Замість глянцю частіше використовується легке шліфування або спеціальні матові чоловічі покриття, які роблять нігті акуратними, але абсолютно природними.</a:t>
            </a:r>
            <a:endParaRPr/>
          </a:p>
        </p:txBody>
      </p:sp>
      <p:sp>
        <p:nvSpPr>
          <p:cNvPr id="139" name="Google Shape;139;p22"/>
          <p:cNvSpPr txBox="1"/>
          <p:nvPr>
            <p:ph idx="2" type="body"/>
          </p:nvPr>
        </p:nvSpPr>
        <p:spPr>
          <a:xfrm>
            <a:off x="4832400" y="1266175"/>
            <a:ext cx="39999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40" name="Google Shape;140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32400" y="1795099"/>
            <a:ext cx="3999899" cy="2773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3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/>
              <a:t>Висновок </a:t>
            </a:r>
            <a:endParaRPr/>
          </a:p>
        </p:txBody>
      </p:sp>
      <p:sp>
        <p:nvSpPr>
          <p:cNvPr id="146" name="Google Shape;146;p23"/>
          <p:cNvSpPr txBox="1"/>
          <p:nvPr>
            <p:ph idx="1" type="body"/>
          </p:nvPr>
        </p:nvSpPr>
        <p:spPr>
          <a:xfrm>
            <a:off x="311700" y="1266175"/>
            <a:ext cx="39999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uk"/>
              <a:t>«Підбиваючи підсумки, варто сказати, що манікюр — це значно більше, ніж просто технічна процедура, краса кольору чи бездоганність форми. Це щоденний ритуал поваги до свого тіла, хвилина тиші у шаленому ритмі життя та прояв справжньої турботи про себе.</a:t>
            </a:r>
            <a:endParaRPr/>
          </a:p>
        </p:txBody>
      </p:sp>
      <p:sp>
        <p:nvSpPr>
          <p:cNvPr id="147" name="Google Shape;147;p23"/>
          <p:cNvSpPr txBox="1"/>
          <p:nvPr>
            <p:ph idx="2" type="body"/>
          </p:nvPr>
        </p:nvSpPr>
        <p:spPr>
          <a:xfrm>
            <a:off x="4832400" y="1266175"/>
            <a:ext cx="39999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48" name="Google Shape;148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366173"/>
            <a:ext cx="4212825" cy="4411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ropic">
  <a:themeElements>
    <a:clrScheme name="Tropic">
      <a:dk1>
        <a:srgbClr val="A1E8D9"/>
      </a:dk1>
      <a:lt1>
        <a:srgbClr val="FFFFFF"/>
      </a:lt1>
      <a:dk2>
        <a:srgbClr val="695D46"/>
      </a:dk2>
      <a:lt2>
        <a:srgbClr val="B3A77D"/>
      </a:lt2>
      <a:accent1>
        <a:srgbClr val="EF6C00"/>
      </a:accent1>
      <a:accent2>
        <a:srgbClr val="CE93D8"/>
      </a:accent2>
      <a:accent3>
        <a:srgbClr val="4DB6AC"/>
      </a:accent3>
      <a:accent4>
        <a:srgbClr val="FF9800"/>
      </a:accent4>
      <a:accent5>
        <a:srgbClr val="009668"/>
      </a:accent5>
      <a:accent6>
        <a:srgbClr val="EEFF41"/>
      </a:accent6>
      <a:hlink>
        <a:srgbClr val="009668"/>
      </a:hlink>
      <a:folHlink>
        <a:srgbClr val="00966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